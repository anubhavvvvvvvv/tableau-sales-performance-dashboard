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8803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Business Review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questions that matter most — market performance, customer value, product mix, and revenue trends — through Tableau-driven analysis.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₹986.64M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(FY 2017–2020)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3440" y="5074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Analyzed Nationwide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0" y="50749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Accounts Tracked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Revenue Performance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0467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   </a:t>
            </a:r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markets generate the highest revenue for the business?</a:t>
            </a:r>
            <a:endParaRPr lang="en-US" sz="1100" dirty="0"/>
          </a:p>
        </p:txBody>
      </p:sp>
      <p:pic>
        <p:nvPicPr>
          <p:cNvPr id="5" name="Image 0" descr="/home/claude/proj/images/cropped/178420161452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371600"/>
            <a:ext cx="8778240" cy="32324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5356" y="4631475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C"/>
                </a:solidFill>
              </a:rPr>
              <a:t>Revenue by Market (normalized amount)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4288536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9" name="Shape 6"/>
          <p:cNvSpPr/>
          <p:nvPr/>
        </p:nvSpPr>
        <p:spPr>
          <a:xfrm>
            <a:off x="8119872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needs to know where revenue is actually being generated so budget, staffing, and inventory follow demand rather than assumption.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DASHBOARD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heavily concentrated in a handful of metro markets, led by Delhi NCR, with a long tail of smaller markets contributing marginally.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53128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
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alone generates ₹520.79M — over half of total company revenue.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(₹150.18M) and Ahmedabad (₹132.53M) form a clear second tier.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8 markets combined contribute less than Ahmedabad alone.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drops off sharply after the top 5 markets, signaling a long-tail distribution.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84464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THIS SUPPORTS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marketing and inventory investment toward Delhi NCR, Mumbai, and Ahmedabad.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underperforming markets (Bengaluru, Bhubaneshwar) for restructuring or exit.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market-specific revenue targets instead of a flat national target.</a:t>
            </a:r>
            <a:endParaRPr lang="en-US" sz="105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VISUALIZATION
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sorted horizontal bar chart makes ranking and scale differences across 14 markets instantly readable at a glance.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Sales Volume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0467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   </a:t>
            </a:r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product is actually moving through each market — and how healthy is that momentum?</a:t>
            </a:r>
            <a:endParaRPr lang="en-US" sz="1100" dirty="0"/>
          </a:p>
        </p:txBody>
      </p:sp>
      <p:pic>
        <p:nvPicPr>
          <p:cNvPr id="5" name="Image 0" descr="/home/claude/proj/images/cropped/178420162872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91" y="1371600"/>
            <a:ext cx="5486400" cy="24423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991" y="384141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</a:rPr>
              <a:t>Sales Quantity by Market</a:t>
            </a:r>
            <a:endParaRPr lang="en-US" sz="850" dirty="0"/>
          </a:p>
        </p:txBody>
      </p:sp>
      <p:pic>
        <p:nvPicPr>
          <p:cNvPr id="7" name="Image 1" descr="/home/claude/proj/images/cropped/1784201738085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711" y="1371600"/>
            <a:ext cx="4872251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8711" y="4599432"/>
            <a:ext cx="4872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</a:rPr>
              <a:t>Sales Amount by Market Code (Pictogram)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10" name="Shape 6"/>
          <p:cNvSpPr/>
          <p:nvPr/>
        </p:nvSpPr>
        <p:spPr>
          <a:xfrm>
            <a:off x="4288536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11" name="Shape 7"/>
          <p:cNvSpPr/>
          <p:nvPr/>
        </p:nvSpPr>
        <p:spPr>
          <a:xfrm>
            <a:off x="8119872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alone doesn't reveal operational load. Sales Directors need to see unit volume to plan logistics, stock, and delivery capacity per market.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DASHBOARD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again leads by a wide margin in units moved, confirming it is both the highest-revenue and highest-volume market — a genuine growth engine.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453128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
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 moves ~989.9K units — more than 2.5x Mumbai, the next largest market.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and Kochi post similar volumes (~255–262K) despite very different revenue tiers.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ranking mostly mirrors revenue ranking, with a few notable exceptions (Nagpur outranks Ahmedabad in volume).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pictogram view reinforces scale intuitively for non-technical stakeholders.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284464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THIS SUPPORTS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warehousing and distribution capacity with Delhi NCR's outsized volume.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Nagpur under-indexes on revenue relative to its volume — possible pricing or mix issue.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volume data to negotiate better logistics contracts in top markets.</a:t>
            </a:r>
            <a:endParaRPr lang="en-US" sz="105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VISUALIZATION
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chart quantifies exact volume for analysis, while the pictogram translates the same data into an intuitive, stakeholder-friendly visual.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Value Concentration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0467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   </a:t>
            </a:r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highest-value customers, and how concentrated is our revenue among them?</a:t>
            </a:r>
            <a:endParaRPr lang="en-US" sz="1100" dirty="0"/>
          </a:p>
        </p:txBody>
      </p:sp>
      <p:pic>
        <p:nvPicPr>
          <p:cNvPr id="5" name="Image 0" descr="/home/claude/proj/images/cropped/178420164132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16" y="1371600"/>
            <a:ext cx="5577840" cy="1663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1016" y="3062055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</a:rPr>
              <a:t>Top Customers by Revenue</a:t>
            </a:r>
            <a:endParaRPr lang="en-US" sz="850" dirty="0"/>
          </a:p>
        </p:txBody>
      </p:sp>
      <p:pic>
        <p:nvPicPr>
          <p:cNvPr id="7" name="Image 1" descr="/home/claude/proj/images/cropped/1784201710933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176" y="1371600"/>
            <a:ext cx="4854761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93176" y="4599432"/>
            <a:ext cx="485476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</a:rPr>
              <a:t>Revenue Share by Customer (Donut)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10" name="Shape 6"/>
          <p:cNvSpPr/>
          <p:nvPr/>
        </p:nvSpPr>
        <p:spPr>
          <a:xfrm>
            <a:off x="4288536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11" name="Shape 7"/>
          <p:cNvSpPr/>
          <p:nvPr/>
        </p:nvSpPr>
        <p:spPr>
          <a:xfrm>
            <a:off x="8119872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 and retention strategy depend on knowing which customers the business cannot afford to lose.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DASHBOARD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account, Electricalsara Stores, dominates the customer base — a concentration risk as much as a commercial success story.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453128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
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Electricalsara Stores contributes ₹413.91M — roughly 42% of total company revenue.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9 top customers combined contribute less than Electricalsara Stores alone.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heavily skewed toward a single strategic account, per the donut's dominant slice.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 base of smaller accounts (Info Stores, Control, Surge Stores, etc.) rounds out the remainder.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284464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THIS SUPPORTS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senior account management and retention incentives to Electricalsara Stores.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diversification plan to reduce dependency risk on one customer.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tiered account strategies for the next 5–10 high-potential customers.</a:t>
            </a:r>
            <a:endParaRPr lang="en-US" sz="105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VISUALIZATION
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chart ranks customers precisely; the donut shows, in one glance, just how disproportionate that top customer's share of revenue really 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Revenue Contribution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0467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   </a:t>
            </a:r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contribute the most to overall sales revenue?</a:t>
            </a:r>
            <a:endParaRPr lang="en-US" sz="1100" dirty="0"/>
          </a:p>
        </p:txBody>
      </p:sp>
      <p:pic>
        <p:nvPicPr>
          <p:cNvPr id="5" name="Image 0" descr="/home/claude/proj/images/cropped/178420165284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371600"/>
            <a:ext cx="8778240" cy="23887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5356" y="3787777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C"/>
                </a:solidFill>
              </a:rPr>
              <a:t>Top Products by Revenue (normalized amount)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4288536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9" name="Shape 6"/>
          <p:cNvSpPr/>
          <p:nvPr/>
        </p:nvSpPr>
        <p:spPr>
          <a:xfrm>
            <a:off x="8119872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merchandising teams need to know which SKUs are true revenue drivers to guide production, pricing, and promotion decisions.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DASHBOARD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led by a small cluster of products, with Prod318 and Prod316 clearly outperforming the rest of the catalog.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53128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
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Prod318 (₹68.97M) and Prod316 (₹60.88M) are the two clear top performers.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products generate roughly ₹151M — a substantial share of total revenue.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tapers off gradually rather than dropping off a cliff, suggesting a healthy long tail.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products shown (Prod304, Prod159) still each exceed ₹17M — a respectable floor.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84464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THIS SUPPORTS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production capacity and marketing spend on Prod318 and Prod316.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top-performer insights to inform new product development and bundling strategy.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lower-tier products for potential rationalization or repositioning.</a:t>
            </a:r>
            <a:endParaRPr lang="en-US" sz="105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VISUALIZATION
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horizontal bar chart is ideal for comparing product-level revenue contribution across many SKUs at once.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Trends Over Time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0467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   </a:t>
            </a:r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revenue trended month over month, and is growth sustainable?</a:t>
            </a:r>
            <a:endParaRPr lang="en-US" sz="1100" dirty="0"/>
          </a:p>
        </p:txBody>
      </p:sp>
      <p:pic>
        <p:nvPicPr>
          <p:cNvPr id="5" name="Image 0" descr="/home/claude/proj/images/cropped/178420166981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7827" y="1371600"/>
            <a:ext cx="5673299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57827" y="4645152"/>
            <a:ext cx="567329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C"/>
                </a:solidFill>
              </a:rPr>
              <a:t>Monthly Normalized Revenue, Oct 2017 – Present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4288536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9" name="Shape 6"/>
          <p:cNvSpPr/>
          <p:nvPr/>
        </p:nvSpPr>
        <p:spPr>
          <a:xfrm>
            <a:off x="8119872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need to distinguish seasonal fluctuation from structural decline to forecast accurately and react to real risk in time.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DASHBOARD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peaked early (₹42.52M) and has trended in a volatile, gradually softening pattern since, with a sharp recent drop to ₹14.71M.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53128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
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peak of ₹42.52M was followed by a multi-month pull-back to the ₹30M range.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rebound reached ₹39.46M before fluctuating between ₹25–35M for an extended stretch.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 data point (₹14.71M) is the lowest on the entire timeline — a red flag worth investigating.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pattern shows recurring peaks and troughs, consistent with seasonal demand cycles.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84464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THIS SUPPORTS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cause of the latest sharp decline before it repeats next cycle.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historical seasonality to time promotions and stock builds ahead of peak months.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rolling revenue forecasts rather than relying on single-month snapshots.</a:t>
            </a:r>
            <a:endParaRPr lang="en-US" sz="105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VISUALIZATION
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time-series line chart is the standard, most intuitive way to reveal trend, seasonality, and inflection points across many periods.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Sales Flow Analysis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0467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   </a:t>
            </a:r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revenue flow from customer type, through markets, down to individual accounts?</a:t>
            </a:r>
            <a:endParaRPr lang="en-US" sz="1100" dirty="0"/>
          </a:p>
        </p:txBody>
      </p:sp>
      <p:pic>
        <p:nvPicPr>
          <p:cNvPr id="5" name="Image 0" descr="/home/claude/proj/images/cropped/178420169699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3953" y="1371600"/>
            <a:ext cx="5101046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43953" y="4645152"/>
            <a:ext cx="510104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</a:rPr>
              <a:t>Sankey: Customer Type → Market Code → Market → Zone → Customer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4288536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9" name="Shape 6"/>
          <p:cNvSpPr/>
          <p:nvPr/>
        </p:nvSpPr>
        <p:spPr>
          <a:xfrm>
            <a:off x="8119872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full path of revenue — from channel type down to the individual store — helps leadership see where structural strength or fragility lies.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DASHBOARD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Brick &amp; Mortar and E-Commerce channels funnel heavily through Mark004 (Delhi NCR) and the North/Central zones before concentrating in a few large customer accounts.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53128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
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 &amp; Mortar is a larger contributor than E-Commerce, but both flow through the same top markets.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Mark004 (Delhi NCR) is the dominant hub connecting both channel types to downstream customers.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and Central zones capture the overwhelming majority of flow volume.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Electricalsara Stores emerges as the single largest end destination of value, regardless of channel or zone.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84464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THIS SUPPORTS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both channel strategies around the Delhi NCR hub rather than treating channels in isolation.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zone-level flow data to plan regional distribution and staffing investment.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Electricalsara Stores relationship — it sits at the convergence of nearly every upstream flow.</a:t>
            </a:r>
            <a:endParaRPr lang="en-US" sz="105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VISUALIZATION
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Sankey diagram is uniquely suited to showing multi-stage flow and relative proportions across several linked dimensions at once.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Volume by Channel &amp; Market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0467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   </a:t>
            </a:r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sales volume break down by customer channel type and market?</a:t>
            </a:r>
            <a:endParaRPr lang="en-US" sz="1100" dirty="0"/>
          </a:p>
        </p:txBody>
      </p:sp>
      <p:pic>
        <p:nvPicPr>
          <p:cNvPr id="5" name="Image 0" descr="/home/claude/proj/images/cropped/178420175345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4427" y="1325880"/>
            <a:ext cx="6580098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04427" y="4645152"/>
            <a:ext cx="65800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</a:rPr>
              <a:t>Polar Area: Sales Quantity by Customer Type &amp; Market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4288536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9" name="Shape 6"/>
          <p:cNvSpPr/>
          <p:nvPr/>
        </p:nvSpPr>
        <p:spPr>
          <a:xfrm>
            <a:off x="8119872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and channel leaders need to know whether physical retail or e-commerce drives volume, and in which markets each channel is strongest.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DASHBOARD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 &amp; Mortar and E-Commerce both contribute meaningful volume across the same core markets, with individual market rings (e.g. Mark001) each representing tens of thousands of units.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53128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
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customer types show comparably structured volume rings, indicating balanced channel maturity.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markets like Mark001 alone move over 50,000 units within a single channel.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layered ring structure makes it easy to compare a market's share within each channel side-by-side.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market completely dominates volume within either channel — distribution is broader here than in revenue.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84464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THIS SUPPORTS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investing in both Brick &amp; Mortar and E-Commerce rather than favoring one channel exclusively.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market-level volume rings to right-size fulfilment resources per channel.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this view quarterly to catch any early channel-shift signals.</a:t>
            </a:r>
            <a:endParaRPr lang="en-US" sz="105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VISUALIZATION
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polar area chart compares nested category volumes (market within channel) more compactly than an equivalent set of bar charts.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Distribution by Zone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0467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   </a:t>
            </a:r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our customer accounts geographically distributed across zones?</a:t>
            </a:r>
            <a:endParaRPr lang="en-US" sz="1100" dirty="0"/>
          </a:p>
        </p:txBody>
      </p:sp>
      <p:pic>
        <p:nvPicPr>
          <p:cNvPr id="5" name="Image 0" descr="/home/claude/proj/images/cropped/178420177454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1010" y="1325880"/>
            <a:ext cx="5986933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01010" y="4645152"/>
            <a:ext cx="59869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C"/>
                </a:solidFill>
              </a:rPr>
              <a:t>Radial Sankey: Customer Accounts → Zone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4288536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9" name="Shape 6"/>
          <p:cNvSpPr/>
          <p:nvPr/>
        </p:nvSpPr>
        <p:spPr>
          <a:xfrm>
            <a:off x="8119872" y="4617720"/>
            <a:ext cx="3611880" cy="2011680"/>
          </a:xfrm>
          <a:prstGeom prst="roundRect">
            <a:avLst>
              <a:gd name="adj" fmla="val 2727"/>
            </a:avLst>
          </a:prstGeom>
          <a:solidFill>
            <a:srgbClr val="F4F7FD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and territory managers need to see which zones carry the greatest concentration of active customer accounts to plan coverage and support.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DASHBOARD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zone holds the largest concentration of customer flow, led decisively by Electricalsara Stores, followed by Central; South carries comparatively little share.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53128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
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Electricalsara Stores alone routes 6,37,164 units of sales quantity into the North zone.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and Central together account for the vast majority of all customer-zone flow.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zone shows a visibly thin flow band, marking it as an underdeveloped territory.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smaller-named accounts (Surge, Sound, Sage, Relief Stores, etc.) feed into the same two dominant zones.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84464" y="4745736"/>
            <a:ext cx="3282696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THIS SUPPORTS
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territory coverage and account acquisition efforts in the South zone.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additional support resources to North given its outsized customer concentration.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7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zone-level account density to guide regional sales team sizing.</a:t>
            </a:r>
            <a:endParaRPr lang="en-US" sz="105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VISUALIZATION
</a:t>
            </a:r>
            <a:endParaRPr lang="en-US" sz="1050" dirty="0"/>
          </a:p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radial Sankey elegantly condenses dozens of individual customer-to-zone flows into one compact, comparably-scaled view.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Executive 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question answered above comes together in a single, unified Sales Performance Dashboard.</a:t>
            </a:r>
            <a:endParaRPr lang="en-US" sz="1300" dirty="0"/>
          </a:p>
        </p:txBody>
      </p:sp>
      <p:pic>
        <p:nvPicPr>
          <p:cNvPr id="4" name="Image 0" descr="/home/claude/proj/images/cropped/178420181724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2824" y="1234440"/>
            <a:ext cx="8103304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unifies market revenue, sales volume, customer concentration, product performance, revenue trends, and channel/zone flow into one executive-ready view — enabling leadership to move from question to insight to decision without leaving a single screen.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2026-07-16T11:48:08Z</dcterms:created>
  <dcterms:modified xsi:type="dcterms:W3CDTF">2026-07-16T11:48:08Z</dcterms:modified>
</cp:coreProperties>
</file>